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8963E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B2A4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914400"/>
            <a:ext cx="822960" cy="36576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SwiftLog Logistics · Mission DS05 · AnalystLab Africa Experience Lab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3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3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0116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PRESENTATION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3317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Intelligence &amp; Feature Engineering for Predictive Logistics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520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D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SwiftLog Logistics Limited · Mission DS05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931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D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 Mideva · Junior Data Scientist · AnalystLab Africa Consulting ·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and objectives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growth</a:t>
            </a:r>
            <a:pPr indent="0" marL="0"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with rising delivery delays and operational bottlenecks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imbalances</a:t>
            </a:r>
            <a:pPr indent="0" marL="0"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with unclear stock visibility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inconsistencies</a:t>
            </a:r>
            <a:pPr indent="0" marL="0"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with no performance view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investing in AI, management needs to understand what its data says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143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46304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and validate</a:t>
            </a:r>
            <a:pPr indent="0" marL="0"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linked tables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and test</a:t>
            </a:r>
            <a:pPr indent="0" marL="0"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delivery, revenue, returns and stock patterns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features</a:t>
            </a:r>
            <a:pPr indent="0" marL="0"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future machine learning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pPr indent="0" marL="0"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and warehouses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pPr indent="0" marL="0"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 operational actions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4315968"/>
            <a:ext cx="64008" cy="41148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431596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turn raw logistics data into evidence for decisions and a foundation for AI.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3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methodology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417320" cy="640080"/>
          </a:xfrm>
          <a:prstGeom prst="chevron">
            <a:avLst/>
          </a:prstGeom>
          <a:solidFill>
            <a:srgbClr val="1B2A4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0" y="1188720"/>
            <a:ext cx="1417320" cy="640080"/>
          </a:xfrm>
          <a:prstGeom prst="chevron">
            <a:avLst/>
          </a:prstGeom>
          <a:solidFill>
            <a:srgbClr val="2A7F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0" y="1188720"/>
            <a:ext cx="1417320" cy="640080"/>
          </a:xfrm>
          <a:prstGeom prst="chevron">
            <a:avLst/>
          </a:prstGeom>
          <a:solidFill>
            <a:srgbClr val="1B2A4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merge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1188720"/>
            <a:ext cx="1417320" cy="640080"/>
          </a:xfrm>
          <a:prstGeom prst="chevron">
            <a:avLst/>
          </a:prstGeom>
          <a:solidFill>
            <a:srgbClr val="2A7F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(28 charts)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188720"/>
            <a:ext cx="1417320" cy="640080"/>
          </a:xfrm>
          <a:prstGeom prst="chevron">
            <a:avLst/>
          </a:prstGeom>
          <a:solidFill>
            <a:srgbClr val="1B2A4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(6 tests)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1188720"/>
            <a:ext cx="1417320" cy="640080"/>
          </a:xfrm>
          <a:prstGeom prst="chevron">
            <a:avLst/>
          </a:prstGeom>
          <a:solidFill>
            <a:srgbClr val="2A7F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&amp; segment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1280160" cy="1097280"/>
          </a:xfrm>
          <a:prstGeom prst="rect">
            <a:avLst/>
          </a:prstGeom>
          <a:solidFill>
            <a:srgbClr val="F4F6FA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48840"/>
            <a:ext cx="1280160" cy="54864"/>
          </a:xfrm>
          <a:prstGeom prst="rect">
            <a:avLst/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276856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75234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0" y="2148840"/>
            <a:ext cx="1280160" cy="1097280"/>
          </a:xfrm>
          <a:prstGeom prst="rect">
            <a:avLst/>
          </a:prstGeom>
          <a:solidFill>
            <a:srgbClr val="F4F6FA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0" y="2148840"/>
            <a:ext cx="1280160" cy="54864"/>
          </a:xfrm>
          <a:prstGeom prst="rect">
            <a:avLst/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920240" y="2276856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920240" y="275234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2148840"/>
            <a:ext cx="1280160" cy="1097280"/>
          </a:xfrm>
          <a:prstGeom prst="rect">
            <a:avLst/>
          </a:prstGeom>
          <a:solidFill>
            <a:srgbClr val="F4F6FA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2148840"/>
            <a:ext cx="1280160" cy="54864"/>
          </a:xfrm>
          <a:prstGeom prst="rect">
            <a:avLst/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91840" y="2276856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3291840" y="275234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lines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2148840"/>
            <a:ext cx="1280160" cy="1097280"/>
          </a:xfrm>
          <a:prstGeom prst="rect">
            <a:avLst/>
          </a:prstGeom>
          <a:solidFill>
            <a:srgbClr val="F4F6FA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2148840"/>
            <a:ext cx="1280160" cy="54864"/>
          </a:xfrm>
          <a:prstGeom prst="rect">
            <a:avLst/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63440" y="2276856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4663440" y="275234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0" y="2148840"/>
            <a:ext cx="1280160" cy="1097280"/>
          </a:xfrm>
          <a:prstGeom prst="rect">
            <a:avLst/>
          </a:prstGeom>
          <a:solidFill>
            <a:srgbClr val="F4F6FA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148840"/>
            <a:ext cx="1280160" cy="54864"/>
          </a:xfrm>
          <a:prstGeom prst="rect">
            <a:avLst/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35040" y="2276856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6035040" y="275234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0" y="2148840"/>
            <a:ext cx="1280160" cy="1097280"/>
          </a:xfrm>
          <a:prstGeom prst="rect">
            <a:avLst/>
          </a:prstGeom>
          <a:solidFill>
            <a:srgbClr val="F4F6FA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0" y="2148840"/>
            <a:ext cx="1280160" cy="54864"/>
          </a:xfrm>
          <a:prstGeom prst="rect">
            <a:avLst/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06640" y="2276856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7406640" y="275234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</a:t>
            </a:r>
            <a:pPr indent="0" marL="0"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Jan to 8 Sep 2026 (September is partial)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pPr indent="0" marL="0"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pandas, SciPy, scikit-learn, seaborn, ydata-profiling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315968"/>
            <a:ext cx="64008" cy="41148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8368" y="431596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tables from orders to returns; suppliers could not be linked to any other table.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3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preparation: clean structure, incomplete content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920240" cy="1143000"/>
          </a:xfrm>
          <a:prstGeom prst="rect">
            <a:avLst/>
          </a:prstGeom>
          <a:solidFill>
            <a:srgbClr val="F4F6FA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1920240" cy="54864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71016"/>
            <a:ext cx="17373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7165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42032" y="1143000"/>
            <a:ext cx="1920240" cy="1143000"/>
          </a:xfrm>
          <a:prstGeom prst="rect">
            <a:avLst/>
          </a:prstGeom>
          <a:solidFill>
            <a:srgbClr val="F4F6FA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42032" y="1143000"/>
            <a:ext cx="1920240" cy="54864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33472" y="1271016"/>
            <a:ext cx="17373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633472" y="177165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 foreign keys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26864" y="1143000"/>
            <a:ext cx="1920240" cy="1143000"/>
          </a:xfrm>
          <a:prstGeom prst="rect">
            <a:avLst/>
          </a:prstGeom>
          <a:solidFill>
            <a:srgbClr val="F4F6FA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26864" y="1143000"/>
            <a:ext cx="1920240" cy="54864"/>
          </a:xfrm>
          <a:prstGeom prst="rect">
            <a:avLst/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18304" y="1271016"/>
            <a:ext cx="17373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 → 2,455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718304" y="177165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rows after summing stock movements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11696" y="1143000"/>
            <a:ext cx="1920240" cy="1143000"/>
          </a:xfrm>
          <a:prstGeom prst="rect">
            <a:avLst/>
          </a:prstGeom>
          <a:solidFill>
            <a:srgbClr val="F4F6FA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11696" y="1143000"/>
            <a:ext cx="1920240" cy="54864"/>
          </a:xfrm>
          <a:prstGeom prst="rect">
            <a:avLst/>
          </a:prstGeom>
          <a:solidFill>
            <a:srgbClr val="B8402E"/>
          </a:solidFill>
          <a:ln w="12700">
            <a:solidFill>
              <a:srgbClr val="B840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03136" y="1271016"/>
            <a:ext cx="17373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4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236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803136" y="177165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without items (revenue set to 0)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51460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= 3+ days late</a:t>
            </a:r>
            <a:pPr indent="0" marL="0"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inferred and matching the supplied status on all 5,000 shipments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</a:t>
            </a:r>
            <a:pPr indent="0" marL="0"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cancelled orders; revenue = Quantity × UnitPrice (no revenue column existed)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analytical datasets</a:t>
            </a:r>
            <a:pPr indent="0" marL="0"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order_master (5,000 rows) and item_master (15,000 rows)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Gaps:</a:t>
            </a:r>
            <a:pPr indent="0" marL="0"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supplier link, warehouse capacity, ship or promised dates; return reasons unverified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315968"/>
            <a:ext cx="64008" cy="41148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431596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cleaning was validation; the real limits are missing fields, not dirty values.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3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demand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828800" cy="914400"/>
          </a:xfrm>
          <a:prstGeom prst="rect">
            <a:avLst/>
          </a:prstGeom>
          <a:solidFill>
            <a:srgbClr val="F4F6FA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1828800" cy="54864"/>
          </a:xfrm>
          <a:prstGeom prst="rect">
            <a:avLst/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7101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14.44M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1828800" cy="914400"/>
          </a:xfrm>
          <a:prstGeom prst="rect">
            <a:avLst/>
          </a:prstGeom>
          <a:solidFill>
            <a:srgbClr val="F4F6FA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48840"/>
            <a:ext cx="1828800" cy="54864"/>
          </a:xfrm>
          <a:prstGeom prst="rect">
            <a:avLst/>
          </a:prstGeom>
          <a:solidFill>
            <a:srgbClr val="5A6372"/>
          </a:solidFill>
          <a:ln w="12700">
            <a:solidFill>
              <a:srgbClr val="5A63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27685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21.67M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651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1828800" cy="914400"/>
          </a:xfrm>
          <a:prstGeom prst="rect">
            <a:avLst/>
          </a:prstGeom>
          <a:solidFill>
            <a:srgbClr val="F4F6FA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154680"/>
            <a:ext cx="1828800" cy="54864"/>
          </a:xfrm>
          <a:prstGeom prst="rect">
            <a:avLst/>
          </a:prstGeom>
          <a:solidFill>
            <a:srgbClr val="B8402E"/>
          </a:solidFill>
          <a:ln w="12700">
            <a:solidFill>
              <a:srgbClr val="B840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28269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4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7.23M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657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(33% of gross)</a:t>
            </a:r>
            <a:endParaRPr lang="en-US" sz="1000" dirty="0"/>
          </a:p>
        </p:txBody>
      </p:sp>
      <p:pic>
        <p:nvPicPr>
          <p:cNvPr id="15" name="Image 0" descr="/home/claude/charts/c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5172" y="1097280"/>
            <a:ext cx="4631055" cy="201168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2514600" y="3200400"/>
            <a:ext cx="6172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peak</a:t>
            </a:r>
            <a:pPr indent="0" marL="0">
              <a:buNone/>
            </a:pPr>
            <a:r>
              <a:rPr lang="en-US" sz="11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2.03M net revenue; July dipped to 1.54M despite normal order volume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leads</a:t>
            </a:r>
            <a:pPr indent="0" marL="0">
              <a:buNone/>
            </a:pPr>
            <a:r>
              <a:rPr lang="en-US" sz="11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(37.5%) through catalogue size; Food earns most per product (92k)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" y="4315968"/>
            <a:ext cx="64008" cy="41148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" y="431596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steady; the revenue leak is cancellations, not lack of orders.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3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Fulfilment: only one order in three is delivered</a:t>
            </a:r>
            <a:endParaRPr lang="en-US" sz="2400" dirty="0"/>
          </a:p>
        </p:txBody>
      </p:sp>
      <p:pic>
        <p:nvPicPr>
          <p:cNvPr id="3" name="Image 0" descr="/home/claude/charts/c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23167"/>
            <a:ext cx="4206240" cy="276574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846320" y="118872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 delivered,</a:t>
            </a:r>
            <a:pPr indent="0" marL="0"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 pending, 32.5% cancelled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after 8 months</a:t>
            </a:r>
            <a:pPr indent="0" marL="0"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unrealistic and needs an ageing rule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values are similar across statuses</a:t>
            </a:r>
            <a:pPr indent="0" marL="0"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(4,460 to 4,688), so size does not drive cancellation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orders hold 7.2M</a:t>
            </a:r>
            <a:pPr indent="0" marL="0"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order value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4315968"/>
            <a:ext cx="64008" cy="41148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" y="431596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cancellation reasons and age every pending order.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3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 is systemic</a:t>
            </a:r>
            <a:endParaRPr lang="en-US" sz="2400" dirty="0"/>
          </a:p>
        </p:txBody>
      </p:sp>
      <p:pic>
        <p:nvPicPr>
          <p:cNvPr id="3" name="Image 0" descr="/home/claude/charts/c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48339"/>
            <a:ext cx="4480560" cy="251540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212080" y="1143000"/>
            <a:ext cx="1645920" cy="1051560"/>
          </a:xfrm>
          <a:prstGeom prst="rect">
            <a:avLst/>
          </a:prstGeom>
          <a:solidFill>
            <a:srgbClr val="F4F6FA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212080" y="1143000"/>
            <a:ext cx="1645920" cy="54864"/>
          </a:xfrm>
          <a:prstGeom prst="rect">
            <a:avLst/>
          </a:prstGeom>
          <a:solidFill>
            <a:srgbClr val="B8402E"/>
          </a:solidFill>
          <a:ln w="12700">
            <a:solidFill>
              <a:srgbClr val="B840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303520" y="1271016"/>
            <a:ext cx="146304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4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63.7%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303520" y="172135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 3+ days late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040880" y="1143000"/>
            <a:ext cx="1645920" cy="1051560"/>
          </a:xfrm>
          <a:prstGeom prst="rect">
            <a:avLst/>
          </a:prstGeom>
          <a:solidFill>
            <a:srgbClr val="F4F6FA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040880" y="1143000"/>
            <a:ext cx="1645920" cy="54864"/>
          </a:xfrm>
          <a:prstGeom prst="rect">
            <a:avLst/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0" y="1271016"/>
            <a:ext cx="146304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3.57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132320" y="172135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delay (days)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212080" y="242316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is spread evenly</a:t>
            </a:r>
            <a:pPr indent="0" marL="0"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0 to 7 days: no typical delay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 Time" allows up to 2 days late,</a:t>
            </a:r>
            <a:pPr indent="0" marL="0">
              <a:buNone/>
            </a:pPr>
            <a:r>
              <a:rPr lang="en-US" sz="12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real on-time rate is lower than it looks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4315968"/>
            <a:ext cx="64008" cy="41148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8368" y="431596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two in three shipments are late: a process problem, not isolated incidents.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3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 few bad warehouses</a:t>
            </a:r>
            <a:endParaRPr lang="en-US" sz="2400" dirty="0"/>
          </a:p>
        </p:txBody>
      </p:sp>
      <p:pic>
        <p:nvPicPr>
          <p:cNvPr id="3" name="Image 0" descr="/home/claude/charts/c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33585"/>
            <a:ext cx="4937760" cy="214490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577840" y="1188720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58.7% to 68.0%</a:t>
            </a:r>
            <a:pPr indent="0" marL="0"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a 63.7% average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significant:</a:t>
            </a:r>
            <a:pPr indent="0" marL="0"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 p = 0.328, delay days p = 0.759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link to</a:t>
            </a:r>
            <a:pPr indent="0" marL="0"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(same city 63.9% vs 63.7%) or workload (r = −0.13)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Watch-list:</a:t>
            </a:r>
            <a:pPr indent="0" marL="0"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W05, W09, W03 weakest; W01, W10, W07 strongest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4315968"/>
            <a:ext cx="64008" cy="41148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" y="431596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shared processes company-wide; ranking individual warehouses is not supported by the data.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3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route that works: Kano to Lagos</a:t>
            </a:r>
            <a:endParaRPr lang="en-US" sz="2400" dirty="0"/>
          </a:p>
        </p:txBody>
      </p:sp>
      <p:pic>
        <p:nvPicPr>
          <p:cNvPr id="3" name="Image 0" descr="/home/claude/charts/c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77344"/>
            <a:ext cx="4754880" cy="285739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40680" y="1143000"/>
            <a:ext cx="1554480" cy="1051560"/>
          </a:xfrm>
          <a:prstGeom prst="rect">
            <a:avLst/>
          </a:prstGeom>
          <a:solidFill>
            <a:srgbClr val="F4F6FA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40680" y="1143000"/>
            <a:ext cx="1554480" cy="54864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32120" y="1271016"/>
            <a:ext cx="137160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53.4%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532120" y="172135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on Kano → Lagos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132320" y="1143000"/>
            <a:ext cx="1554480" cy="1051560"/>
          </a:xfrm>
          <a:prstGeom prst="rect">
            <a:avLst/>
          </a:prstGeom>
          <a:solidFill>
            <a:srgbClr val="F4F6FA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132320" y="1143000"/>
            <a:ext cx="1554480" cy="54864"/>
          </a:xfrm>
          <a:prstGeom prst="rect">
            <a:avLst/>
          </a:prstGeom>
          <a:solidFill>
            <a:srgbClr val="5A6372"/>
          </a:solidFill>
          <a:ln w="12700">
            <a:solidFill>
              <a:srgbClr val="5A637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223760" y="1271016"/>
            <a:ext cx="137160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63.7%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223760" y="172135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average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440680" y="2423160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249 orders,</a:t>
            </a:r>
            <a:pPr indent="0" marL="0"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p = 0.008 across 12 routes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geographic advantage,</a:t>
            </a:r>
            <a:pPr indent="0" marL="0"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cause is likely carrier, dispatch or handling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 to investigate,</a:t>
            </a:r>
            <a:pPr indent="0" marL="0"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proven cause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4315968"/>
            <a:ext cx="64008" cy="41148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8368" y="431596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what Kano to Lagos does differently and trial it on other routes.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3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a steady 9.5%, unrelated to delay</a:t>
            </a:r>
            <a:endParaRPr lang="en-US" sz="2400" dirty="0"/>
          </a:p>
        </p:txBody>
      </p:sp>
      <p:pic>
        <p:nvPicPr>
          <p:cNvPr id="3" name="Image 0" descr="/home/claude/charts/c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1246"/>
            <a:ext cx="2743200" cy="1803748"/>
          </a:xfrm>
          <a:prstGeom prst="rect">
            <a:avLst/>
          </a:prstGeom>
        </p:spPr>
      </p:pic>
      <p:pic>
        <p:nvPicPr>
          <p:cNvPr id="4" name="Image 1" descr="/home/claude/charts/c1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244962"/>
            <a:ext cx="2194560" cy="171631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669280" y="118872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9.5% of orders</a:t>
            </a:r>
            <a:pPr indent="0" marL="0">
              <a:buNone/>
            </a:pPr>
            <a:r>
              <a:rPr lang="en-US" sz="11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return; categories sit between 9.3% and 9.8%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9.42% vs on-time 9.54%</a:t>
            </a:r>
            <a:pPr indent="0" marL="0">
              <a:buNone/>
            </a:pPr>
            <a:r>
              <a:rPr lang="en-US" sz="11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= 0.928)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Item + Damaged = 63%</a:t>
            </a:r>
            <a:pPr indent="0" marL="0">
              <a:buNone/>
            </a:pPr>
            <a:r>
              <a:rPr lang="en-US" sz="11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returns: picking and packing quality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 of "Late Delivery" returns</a:t>
            </a:r>
            <a:pPr indent="0" marL="0">
              <a:buNone/>
            </a:pPr>
            <a:r>
              <a:rPr lang="en-US" sz="11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 from On-Time shipments, so the reason field is unreliable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3154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by reason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3291840" y="3154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rate: delayed vs on time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57200" y="4315968"/>
            <a:ext cx="64008" cy="41148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58368" y="431596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 delays will not cut returns; fix order accuracy and handling instead.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3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and workforce</a:t>
            </a:r>
            <a:endParaRPr lang="en-US" sz="2400" dirty="0"/>
          </a:p>
        </p:txBody>
      </p:sp>
      <p:pic>
        <p:nvPicPr>
          <p:cNvPr id="3" name="Image 0" descr="/home/claude/charts/c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63688"/>
            <a:ext cx="4114800" cy="1787424"/>
          </a:xfrm>
          <a:prstGeom prst="rect">
            <a:avLst/>
          </a:prstGeom>
        </p:spPr>
      </p:pic>
      <p:pic>
        <p:nvPicPr>
          <p:cNvPr id="4" name="Image 1" descr="/home/claude/charts/c2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4207" y="1097280"/>
            <a:ext cx="2701825" cy="19202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1089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is about 28× units sold</a:t>
            </a:r>
            <a:pPr indent="0" marL="0">
              <a:buNone/>
            </a:pPr>
            <a:r>
              <a:rPr lang="en-US" sz="10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(indicative): overstock or unreliable records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34.4% of shipped pairs</a:t>
            </a:r>
            <a:pPr indent="0" marL="0">
              <a:buNone/>
            </a:pPr>
            <a:r>
              <a:rPr lang="en-US" sz="10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no inventory record; 10.8% of stocked pairs hold under 100 units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 holds 77.5k units, W01 56.5k</a:t>
            </a:r>
            <a:pPr indent="0" marL="0">
              <a:buNone/>
            </a:pPr>
            <a:r>
              <a:rPr lang="en-US" sz="10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near-equal shipments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W12, W14, W15 carry 35.6 shipments per employee</a:t>
            </a:r>
            <a:pPr indent="0" marL="0">
              <a:buNone/>
            </a:pPr>
            <a:r>
              <a:rPr lang="en-US" sz="10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23.8 typical, with similar delay</a:t>
            </a:r>
            <a:endParaRPr lang="en-US" sz="1050" dirty="0"/>
          </a:p>
        </p:txBody>
      </p:sp>
      <p:sp>
        <p:nvSpPr>
          <p:cNvPr id="6" name="Shape 2"/>
          <p:cNvSpPr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57200" y="4315968"/>
            <a:ext cx="64008" cy="41148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58368" y="431596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stock to shipments first; then rebalance stock and pilot a staffing shift.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3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segments: S1 carries the business</a:t>
            </a:r>
            <a:endParaRPr lang="en-US" sz="2400" dirty="0"/>
          </a:p>
        </p:txBody>
      </p:sp>
      <p:pic>
        <p:nvPicPr>
          <p:cNvPr id="3" name="Image 0" descr="/home/claude/charts/c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25341"/>
            <a:ext cx="4206240" cy="2361398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188720"/>
          <a:ext cx="384048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960120"/>
                <a:gridCol w="868680"/>
                <a:gridCol w="868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Loyal high-value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 Return-prone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Low-value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351 (35%)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215 (22%)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425 (43%)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revenue share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orders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frequency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since last order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846320" y="35204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on 4 standardised features, k = 3, silhouette 0.31: use for targeting, not hard boundaries.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57200" y="4315968"/>
            <a:ext cx="64008" cy="41148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58368" y="431596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S1, win back S3, and fix order accuracy for S2.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3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evidence: five of six tests are null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737360"/>
                <a:gridCol w="118872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 rate differs across 15 warehouses?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Chi-square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 days differ across warehouses?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Kruskal-Wallis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 rate differs across customer cities?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Chi-square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Delayed orders returned more often?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Chi-square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reason related to delay?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Chi-square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route differs (12, Bonferroni)?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Chi-square per route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 (adj.)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Yes: Kano to Lagos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291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driven by basket size</a:t>
            </a:r>
            <a:pPr indent="0" marL="0"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(units ordered r = 0.89); delay, returns and distance are unrelated to revenue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stock are right-skewed:</a:t>
            </a:r>
            <a:pPr indent="0" marL="0"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medians; delay days, quantity and price are uniform, so the data may be simulated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4315968"/>
            <a:ext cx="64008" cy="41148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" y="431596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results are findings too: delay needs company-wide fixes.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3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(13 in the report)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371600"/>
          </a:xfrm>
          <a:prstGeom prst="rect">
            <a:avLst/>
          </a:prstGeom>
          <a:solidFill>
            <a:srgbClr val="F4F6FA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" cy="137160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98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Kano to Lagos; set a company-wide delay target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651760" cy="1371600"/>
          </a:xfrm>
          <a:prstGeom prst="rect">
            <a:avLst/>
          </a:prstGeom>
          <a:solidFill>
            <a:srgbClr val="F4F6FA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188720"/>
            <a:ext cx="64008" cy="137160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298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6459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reasons; age and clear the pending backlog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651760" cy="1371600"/>
          </a:xfrm>
          <a:prstGeom prst="rect">
            <a:avLst/>
          </a:prstGeom>
          <a:solidFill>
            <a:srgbClr val="F4F6FA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188720"/>
            <a:ext cx="64008" cy="137160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298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capture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6459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Promised dates, timestamps, supplier link, capacity, valid return reasons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2651760" cy="1371600"/>
          </a:xfrm>
          <a:prstGeom prst="rect">
            <a:avLst/>
          </a:prstGeom>
          <a:solidFill>
            <a:srgbClr val="F4F6FA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697480"/>
            <a:ext cx="64008" cy="137160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2807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154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records with shipments; set reorder levels; rebalance stock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46120" y="2697480"/>
            <a:ext cx="2651760" cy="1371600"/>
          </a:xfrm>
          <a:prstGeom prst="rect">
            <a:avLst/>
          </a:prstGeom>
          <a:solidFill>
            <a:srgbClr val="F4F6FA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6120" y="2697480"/>
            <a:ext cx="64008" cy="137160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29000" y="2807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3154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service for S1; win-back and bundles for S3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35040" y="2697480"/>
            <a:ext cx="2651760" cy="1371600"/>
          </a:xfrm>
          <a:prstGeom prst="rect">
            <a:avLst/>
          </a:prstGeom>
          <a:solidFill>
            <a:srgbClr val="F4F6FA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2697480"/>
            <a:ext cx="64008" cy="137160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2807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and growth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154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and packing checks; expand Food; plan April and August peaks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315968"/>
            <a:ext cx="64008" cy="41148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8368" y="431596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is tied to a measured finding in the Technical Report.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3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 and future machine learning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impact (not forecasts)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≈515 fewer late shipments</a:t>
            </a:r>
            <a:pPr indent="0" marL="0"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every route matched Kano to Lagos (5,000 × 10.3 points)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≈0.72M recovered</a:t>
            </a:r>
            <a:pPr indent="0" marL="0"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10% of cancelled value is saved (about +5% net revenue)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≈63 fewer returns</a:t>
            </a:r>
            <a:pPr indent="0" marL="0"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Wrong Item and Damaged returns fall 20% (315 × 20%)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roadmap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417320"/>
          <a:ext cx="3931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Outlook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(r = 0.89)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to 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 and returns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until dates captured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forecast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24+ months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754880" y="32461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customer and warehouse features using only earlier data before training, to avoid leakage.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4315968"/>
            <a:ext cx="64008" cy="41148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" y="431596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fix process and data capture first; AI will then have signal to learn from.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3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wiftLog DS05">
  <a:themeElements>
    <a:clrScheme name="SwiftLog DS05">
      <a:dk1>
        <a:srgbClr val="222B3A"/>
      </a:dk1>
      <a:lt1>
        <a:srgbClr val="FFFFFF"/>
      </a:lt1>
      <a:dk2>
        <a:srgbClr val="1B2A49"/>
      </a:dk2>
      <a:lt2>
        <a:srgbClr val="F4F6FA"/>
      </a:lt2>
      <a:accent1>
        <a:srgbClr val="1B2A49"/>
      </a:accent1>
      <a:accent2>
        <a:srgbClr val="C8963E"/>
      </a:accent2>
      <a:accent3>
        <a:srgbClr val="2A7F8E"/>
      </a:accent3>
      <a:accent4>
        <a:srgbClr val="B8402E"/>
      </a:accent4>
      <a:accent5>
        <a:srgbClr val="5A6372"/>
      </a:accent5>
      <a:accent6>
        <a:srgbClr val="8A5F12"/>
      </a:accent6>
      <a:hlink>
        <a:srgbClr val="1B2A49"/>
      </a:hlink>
      <a:folHlink>
        <a:srgbClr val="5A6372"/>
      </a:folHlink>
    </a:clrScheme>
    <a:fontScheme name="SwiftLog DS05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SwiftLog Supply Chain Intelligence: Executive Presentation</dc:title>
  <dc:subject>PptxGenJS Presentation</dc:subject>
  <dc:creator>Sharin Mideva</dc:creator>
  <cp:lastModifiedBy>Sharin Mideva</cp:lastModifiedBy>
  <cp:revision>1</cp:revision>
  <dcterms:created xsi:type="dcterms:W3CDTF">2026-10-18T12:21:46Z</dcterms:created>
  <dcterms:modified xsi:type="dcterms:W3CDTF">2026-10-18T12:21:46Z</dcterms:modified>
</cp:coreProperties>
</file>